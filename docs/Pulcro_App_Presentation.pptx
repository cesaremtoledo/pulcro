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6FD4"/>
              </a:gs>
              <a:gs pos="100000">
                <a:srgbClr val="2ABFB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-164592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PULCRO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On-Demand Laundry &amp; Home Cleaning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AF6FF"/>
                </a:solidFill>
                <a:latin typeface="Calibri"/>
              </a:rPr>
              <a:t>Product Walkthrough  •  Architecture  • 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989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AF6FF"/>
                </a:solidFill>
                <a:latin typeface="Calibri"/>
              </a:rPr>
              <a:t>Frontend Prototype  —  React Native (Expo) +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1A6FD4"/>
                </a:solidFill>
                <a:latin typeface="Calibri"/>
              </a:rPr>
              <a:t>01   </a:t>
            </a:r>
            <a:r>
              <a:rPr sz="2200">
                <a:solidFill>
                  <a:srgbClr val="2C3444"/>
                </a:solidFill>
                <a:latin typeface="Calibri"/>
              </a:rPr>
              <a:t>What is Pulcro?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6FD4"/>
                </a:solidFill>
                <a:latin typeface="Calibri"/>
              </a:rPr>
              <a:t>02   </a:t>
            </a:r>
            <a:r>
              <a:rPr sz="2200">
                <a:solidFill>
                  <a:srgbClr val="2C3444"/>
                </a:solidFill>
                <a:latin typeface="Calibri"/>
              </a:rPr>
              <a:t>Tech stack &amp; architecture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6FD4"/>
                </a:solidFill>
                <a:latin typeface="Calibri"/>
              </a:rPr>
              <a:t>03   </a:t>
            </a:r>
            <a:r>
              <a:rPr sz="2200">
                <a:solidFill>
                  <a:srgbClr val="2C3444"/>
                </a:solidFill>
                <a:latin typeface="Calibri"/>
              </a:rPr>
              <a:t>Screen inventory &amp; navigation map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6FD4"/>
                </a:solidFill>
                <a:latin typeface="Calibri"/>
              </a:rPr>
              <a:t>04   </a:t>
            </a:r>
            <a:r>
              <a:rPr sz="2200">
                <a:solidFill>
                  <a:srgbClr val="2C3444"/>
                </a:solidFill>
                <a:latin typeface="Calibri"/>
              </a:rPr>
              <a:t>User flow, end to end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6FD4"/>
                </a:solidFill>
                <a:latin typeface="Calibri"/>
              </a:rPr>
              <a:t>05   </a:t>
            </a:r>
            <a:r>
              <a:rPr sz="2200">
                <a:solidFill>
                  <a:srgbClr val="2C3444"/>
                </a:solidFill>
                <a:latin typeface="Calibri"/>
              </a:rPr>
              <a:t>Feature walkthrough (with screenshots)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6FD4"/>
                </a:solidFill>
                <a:latin typeface="Calibri"/>
              </a:rPr>
              <a:t>06   </a:t>
            </a:r>
            <a:r>
              <a:rPr sz="2200">
                <a:solidFill>
                  <a:srgbClr val="2C3444"/>
                </a:solidFill>
                <a:latin typeface="Calibri"/>
              </a:rPr>
              <a:t>Internationalization (ES / EN)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6FD4"/>
                </a:solidFill>
                <a:latin typeface="Calibri"/>
              </a:rPr>
              <a:t>07   </a:t>
            </a:r>
            <a:r>
              <a:rPr sz="2200">
                <a:solidFill>
                  <a:srgbClr val="2C3444"/>
                </a:solidFill>
                <a:latin typeface="Calibri"/>
              </a:rPr>
              <a:t>What's missing — this is frontend only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6FD4"/>
                </a:solidFill>
                <a:latin typeface="Calibri"/>
              </a:rPr>
              <a:t>08   </a:t>
            </a:r>
            <a:r>
              <a:rPr sz="2200">
                <a:solidFill>
                  <a:srgbClr val="2C3444"/>
                </a:solidFill>
                <a:latin typeface="Calibri"/>
              </a:rPr>
              <a:t>Roadmap &amp; points to improve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What is Pulcro?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5A6478"/>
                </a:solidFill>
                <a:latin typeface="Calibri"/>
              </a:rPr>
              <a:t>Pulcro is a mobile app concept for on-demand laundry and home-cleaning services in Mexico — request pickup, choose a service, schedule a time window, and track your order, all from your phone.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2C3444"/>
                </a:solidFill>
                <a:latin typeface="Calibri"/>
              </a:rPr>
              <a:t>•  Same category as Cleano (Qatar), JustClean, Washho: on-demand home services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C3444"/>
                </a:solidFill>
                <a:latin typeface="Calibri"/>
              </a:rPr>
              <a:t>•  Pricing in MXN — built for the Mexican market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C3444"/>
                </a:solidFill>
                <a:latin typeface="Calibri"/>
              </a:rPr>
              <a:t>•  Single-vendor model today (Pulcro is the provider, not a marketplace yet)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783080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Laundry by kilo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783080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2A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Garment cleaning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200400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0D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House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3200400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Car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66344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A6478"/>
                </a:solidFill>
                <a:latin typeface="Calibri"/>
              </a:rPr>
              <a:t>+ Shop for cleaning products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41448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Expo SDK 54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React Native 0.81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React 19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2A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Navigation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441448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Expo Router 6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File-based routing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Typed routes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Tab + Stack nav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8308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0D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State &amp;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441448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React Context API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AsyncStorage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Supabase JS SDK
(installed, unused)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No API layer yet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178308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UI &amp;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2441448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lucide-react-native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expo-linear-gradient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react-native-maps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C3444"/>
                </a:solidFill>
              </a:rPr>
              <a:t>•  expo-location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102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BA5B7"/>
                </a:solidFill>
                <a:latin typeface="Calibri"/>
              </a:rPr>
              <a:t>No custom native modules requiring an EAS dev build beyond Maps/Location — runs in Expo 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App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A6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/>
            <a:r>
              <a:rPr sz="1600" b="1">
                <a:solidFill>
                  <a:srgbClr val="1A6FD4"/>
                </a:solidFill>
              </a:rPr>
              <a:t>Screens  (app/*)</a:t>
            </a:r>
          </a:p>
          <a:p>
            <a:r>
              <a:rPr sz="1250">
                <a:solidFill>
                  <a:srgbClr val="5A6478"/>
                </a:solidFill>
              </a:rPr>
              <a:t>Home · Orders · Shop · Profile · Laundry · Garments · House · Car ·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109728" cy="914400"/>
          </a:xfrm>
          <a:prstGeom prst="round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971032" y="2715768"/>
            <a:ext cx="219456" cy="182880"/>
          </a:xfrm>
          <a:prstGeom prst="downArrow">
            <a:avLst/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898648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A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/>
            <a:r>
              <a:rPr sz="1600" b="1">
                <a:solidFill>
                  <a:srgbClr val="2ABFBF"/>
                </a:solidFill>
              </a:rPr>
              <a:t>Shared Components  (components/*)</a:t>
            </a:r>
          </a:p>
          <a:p>
            <a:r>
              <a:rPr sz="1250">
                <a:solidFill>
                  <a:srgbClr val="5A6478"/>
                </a:solidFill>
              </a:rPr>
              <a:t>ScreenHeader · PrimaryButton · CategoryCard · ServiceCard · LanguageToggle · LocationConfirmScreen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98648"/>
            <a:ext cx="109728" cy="914400"/>
          </a:xfrm>
          <a:prstGeom prst="roundRect">
            <a:avLst/>
          </a:prstGeom>
          <a:solidFill>
            <a:srgbClr val="2A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971032" y="3831336"/>
            <a:ext cx="219456" cy="182880"/>
          </a:xfrm>
          <a:prstGeom prst="downArrow">
            <a:avLst/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014216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D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/>
            <a:r>
              <a:rPr sz="1600" b="1">
                <a:solidFill>
                  <a:srgbClr val="0D4FA0"/>
                </a:solidFill>
              </a:rPr>
              <a:t>Global State  (contexts/*)</a:t>
            </a:r>
          </a:p>
          <a:p>
            <a:r>
              <a:rPr sz="1250">
                <a:solidFill>
                  <a:srgbClr val="5A6478"/>
                </a:solidFill>
              </a:rPr>
              <a:t>LanguageContext (ES/EN)  ·  LocationContext (confirmed address)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14216"/>
            <a:ext cx="109728" cy="914400"/>
          </a:xfrm>
          <a:prstGeom prst="roundRect">
            <a:avLst/>
          </a:prstGeom>
          <a:solidFill>
            <a:srgbClr val="0D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971032" y="4946904"/>
            <a:ext cx="219456" cy="182880"/>
          </a:xfrm>
          <a:prstGeom prst="downArrow">
            <a:avLst/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5129784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/>
            <a:r>
              <a:rPr sz="1600" b="1">
                <a:solidFill>
                  <a:srgbClr val="00D4AA"/>
                </a:solidFill>
              </a:rPr>
              <a:t>Foundations  (constants/*)</a:t>
            </a:r>
          </a:p>
          <a:p>
            <a:r>
              <a:rPr sz="1250">
                <a:solidFill>
                  <a:srgbClr val="5A6478"/>
                </a:solidFill>
              </a:rPr>
              <a:t>theme.ts (colors, spacing, type scale)  ·  translations.ts (i18n dictionary)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9784"/>
            <a:ext cx="109728" cy="9144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Screen Inventory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6126480"/>
              </a:tblGrid>
              <a:tr h="432261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Screen</a:t>
                      </a:r>
                    </a:p>
                  </a:txBody>
                  <a:tcPr marL="109728" marR="109728" marT="36576" marB="36576" anchor="ctr">
                    <a:solidFill>
                      <a:srgbClr val="1A6F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Route</a:t>
                      </a:r>
                    </a:p>
                  </a:txBody>
                  <a:tcPr marL="109728" marR="109728" marT="36576" marB="36576" anchor="ctr">
                    <a:solidFill>
                      <a:srgbClr val="1A6F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109728" marR="109728" marT="36576" marB="36576" anchor="ctr">
                    <a:solidFill>
                      <a:srgbClr val="1A6FD4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Location Confirm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gate at launch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First-run only: confirm pickup/delivery address via map or manual entry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Home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 (tabs)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Greeting, search, hero banner, service categories, popular services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/orders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Active order tracker + order history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Shop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/shop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Browse &amp; filter cleaning products, add to cart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Profile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/profile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Account info, addresses, payment methods, settings, language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Laundry by Kilo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/laundry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Weight stepper, tiered pricing, schedule pickup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Garment Cleaning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/garments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Per-item quantity picker (sneakers, boots, caps…)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House Cleaning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/house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Plan selector (Basic/Deep/Premium) + extra services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Car Cleaning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/car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Vehicle type + wash package selector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Cart / Checkout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9BA5B7"/>
                          </a:solidFill>
                          <a:latin typeface="Consolas"/>
                        </a:rPr>
                        <a:t>/cart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C3444"/>
                          </a:solidFill>
                        </a:rPr>
                        <a:t>Review items, address, schedule, payment, confirm order</a:t>
                      </a:r>
                    </a:p>
                  </a:txBody>
                  <a:tcPr marL="109728" marR="109728" marT="36576" marB="3657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USER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End-to-End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7463" y="2240280"/>
            <a:ext cx="1572768" cy="960120"/>
          </a:xfrm>
          <a:prstGeom prst="roundRect">
            <a:avLst>
              <a:gd name="adj" fmla="val 18000"/>
            </a:avLst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
Launch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28519" y="2638044"/>
            <a:ext cx="219456" cy="164592"/>
          </a:xfrm>
          <a:prstGeom prst="rightArrow">
            <a:avLst/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6263" y="2240280"/>
            <a:ext cx="1572768" cy="960120"/>
          </a:xfrm>
          <a:prstGeom prst="roundRect">
            <a:avLst>
              <a:gd name="adj" fmla="val 18000"/>
            </a:avLst>
          </a:prstGeom>
          <a:solidFill>
            <a:srgbClr val="2A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7319" y="2638044"/>
            <a:ext cx="219456" cy="164592"/>
          </a:xfrm>
          <a:prstGeom prst="rightArrow">
            <a:avLst/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5063" y="2240280"/>
            <a:ext cx="1572768" cy="960120"/>
          </a:xfrm>
          <a:prstGeom prst="roundRect">
            <a:avLst>
              <a:gd name="adj" fmla="val 18000"/>
            </a:avLst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Browse &amp;
Configure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6119" y="2638044"/>
            <a:ext cx="219456" cy="164592"/>
          </a:xfrm>
          <a:prstGeom prst="rightArrow">
            <a:avLst/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3863" y="2240280"/>
            <a:ext cx="1572768" cy="960120"/>
          </a:xfrm>
          <a:prstGeom prst="roundRect">
            <a:avLst>
              <a:gd name="adj" fmla="val 18000"/>
            </a:avLst>
          </a:prstGeom>
          <a:solidFill>
            <a:srgbClr val="0D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Cart &amp;
Checkout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14919" y="2638044"/>
            <a:ext cx="219456" cy="164592"/>
          </a:xfrm>
          <a:prstGeom prst="rightArrow">
            <a:avLst/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2663" y="2240280"/>
            <a:ext cx="1572768" cy="960120"/>
          </a:xfrm>
          <a:prstGeom prst="roundRect">
            <a:avLst>
              <a:gd name="adj" fmla="val 18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Order
Confirmed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643719" y="2638044"/>
            <a:ext cx="219456" cy="164592"/>
          </a:xfrm>
          <a:prstGeom prst="rightArrow">
            <a:avLst/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81463" y="2240280"/>
            <a:ext cx="1572768" cy="960120"/>
          </a:xfrm>
          <a:prstGeom prst="roundRect">
            <a:avLst>
              <a:gd name="adj" fmla="val 18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Track in
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583" y="3886200"/>
            <a:ext cx="228600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</a:rPr>
              <a:t>Confirm Location</a:t>
            </a:r>
          </a:p>
          <a:p>
            <a:pPr algn="ctr"/>
            <a:r>
              <a:rPr sz="1050" i="1">
                <a:solidFill>
                  <a:srgbClr val="9BA5B7"/>
                </a:solidFill>
              </a:rPr>
              <a:t>(first launch only)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697583.5" y="3200400"/>
            <a:ext cx="1655064.0" cy="685800"/>
          </a:xfrm>
          <a:prstGeom prst="bentConnector3">
            <a:avLst/>
          </a:prstGeom>
          <a:ln w="222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own Arrow 20"/>
          <p:cNvSpPr/>
          <p:nvPr/>
        </p:nvSpPr>
        <p:spPr>
          <a:xfrm>
            <a:off x="1441551" y="3246120"/>
            <a:ext cx="164592" cy="32004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66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6478"/>
                </a:solidFill>
                <a:latin typeface="Calibri"/>
              </a:rPr>
              <a:t>Loop:  Orders and Profile are always reachable from the bottom tab bar, so users can start a new service, reorder, or edit account details at any point without leaving the main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4FA0"/>
              </a:gs>
              <a:gs pos="100000">
                <a:srgbClr val="1A6FD4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429000"/>
            <a:ext cx="1097280" cy="635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Feature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480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AF6FF"/>
                </a:solidFill>
                <a:latin typeface="Calibri"/>
              </a:rPr>
              <a:t>A guided tour of every screen, with live screenshots from the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Confirm Your 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28216"/>
            <a:ext cx="2116749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location-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200702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0061" y="1874520"/>
            <a:ext cx="81729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Shown once, before the very first Home screen — gates the whole app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Native (iOS/Android): live MapView with a fixed center pin, drag to adjust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GPS auto-detect via expo-location + reverse geocoding to a readable address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Web fallback: manual address field (no native map module on web)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Confirmed address is saved to AsyncStorage — never asked again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0061" y="5897880"/>
            <a:ext cx="8172994" cy="7772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50" i="1">
                <a:solidFill>
                  <a:srgbClr val="5A6478"/>
                </a:solidFill>
              </a:rPr>
              <a:t>⚠  Address is currently stored locally only; it is not yet linked to a user account or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Discover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28216"/>
            <a:ext cx="2116749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200702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0061" y="1874520"/>
            <a:ext cx="81729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Personalized greeting + detected address in the header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Language toggle (ES/EN) and notification bell, always one tap away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Search bar for services (UI only — not wired to real search yet)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Hero banner reinforces the brand promise: pickup &amp; delivery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Service category cards route to each booking flow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Horizontal "Popular" carousel highlights top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Booking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BOOKING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Four Ways to Book a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65183" y="1728216"/>
            <a:ext cx="1757598" cy="3675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laund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047" y="1783080"/>
            <a:ext cx="164787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91447" y="5550408"/>
            <a:ext cx="2105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FD4"/>
                </a:solidFill>
                <a:latin typeface="Calibri"/>
              </a:rPr>
              <a:t>Laundry by Kilo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1447" y="5852160"/>
            <a:ext cx="21050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Weight stepper + auto tier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093" y="1728216"/>
            <a:ext cx="1757598" cy="3675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-gar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957" y="1783080"/>
            <a:ext cx="1647870" cy="3566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59357" y="5550408"/>
            <a:ext cx="2105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FD4"/>
                </a:solidFill>
                <a:latin typeface="Calibri"/>
              </a:rPr>
              <a:t>Garment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357" y="5852160"/>
            <a:ext cx="21050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Per-item quantity picker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1003" y="1728216"/>
            <a:ext cx="1757598" cy="3675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8-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67" y="1783080"/>
            <a:ext cx="1647870" cy="3566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27267" y="5550408"/>
            <a:ext cx="2105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FD4"/>
                </a:solidFill>
                <a:latin typeface="Calibri"/>
              </a:rPr>
              <a:t>House Cleaning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7267" y="5852160"/>
            <a:ext cx="21050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Plan tiers + optional extras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8913" y="1728216"/>
            <a:ext cx="1757598" cy="3675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9-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777" y="1783080"/>
            <a:ext cx="164787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95177" y="5550408"/>
            <a:ext cx="2105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FD4"/>
                </a:solidFill>
                <a:latin typeface="Calibri"/>
              </a:rPr>
              <a:t>Car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5177" y="5852160"/>
            <a:ext cx="21050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Vehicle type + wash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BA5B7"/>
                </a:solidFill>
                <a:latin typeface="Calibri"/>
              </a:rPr>
              <a:t>All four flows share the same pattern: configure → live price updates → "Schedule" → Cart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Buy Cleaning 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28216"/>
            <a:ext cx="2116749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200702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0061" y="1874520"/>
            <a:ext cx="81729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Category filter chips (All, Detergents, Disinfectants, Accessories, Eco)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Product grid with rating, price (MXN) and unit size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Quick "add to cart" button per product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Shared cart icon in the header badges into 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0061" y="5897880"/>
            <a:ext cx="8172994" cy="7772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50" i="1">
                <a:solidFill>
                  <a:srgbClr val="5A6478"/>
                </a:solidFill>
              </a:rPr>
              <a:t>⚠  Catalog is a static in-memory array — no inventory, stock, or vendor backend.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Cart &amp; Checkout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28216"/>
            <a:ext cx="2116749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200702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0061" y="1874520"/>
            <a:ext cx="81729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Line items pulled from every booking flow / shop add-to-cart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Pickup address, date &amp; time window, and payment method — each editable via a modal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Calendar picker blocks past dates; time-slot grid for delivery window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Live order summary with subtotal, free shipping, and total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"Confirm order" pushes a new entry into the Orders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0061" y="5897880"/>
            <a:ext cx="8172994" cy="7772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50" i="1">
                <a:solidFill>
                  <a:srgbClr val="5A6478"/>
                </a:solidFill>
              </a:rPr>
              <a:t>⚠  Checkout is fully mocked: no real payment gateway is called and totals aren't persisted server-side.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Track Your 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28216"/>
            <a:ext cx="2116749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200702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0061" y="1874520"/>
            <a:ext cx="81729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Active order card with a 4-step progress tracker (Picked up → In progress → On the way → Delivered)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Order history list with status badges, dates, and totals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Tapping a past order does not yet open a detail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0061" y="5897880"/>
            <a:ext cx="8172994" cy="7772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50" i="1">
                <a:solidFill>
                  <a:srgbClr val="5A6478"/>
                </a:solidFill>
              </a:rPr>
              <a:t>⚠  Status is hard-coded demo data — there is no live courier/dispatch system behind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Account &amp; Settings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28216"/>
            <a:ext cx="2116749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200702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0061" y="1874520"/>
            <a:ext cx="81729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Profile summary with mock stats (orders, rating, points)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Manage saved addresses and payment methods (add / delete) via modals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Language switch (ES/EN) surfaced again here as a settings row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Notifications, Favorites, Privacy and Help entries are placeholders (no linked screens yet)</a:t>
            </a:r>
          </a:p>
          <a:p>
            <a:pPr>
              <a:spcAft>
                <a:spcPts val="1400"/>
              </a:spcAft>
            </a:pPr>
            <a:r>
              <a:rPr sz="1650" b="0">
                <a:solidFill>
                  <a:srgbClr val="2C3444"/>
                </a:solidFill>
                <a:latin typeface="Calibri"/>
              </a:rPr>
              <a:t>•  "Log out" button is present but not wired — there is no authentication yet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LOCALIZATION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Bilingual by Design (ES / 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6905" y="1728216"/>
            <a:ext cx="1525206" cy="3172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769" y="1783080"/>
            <a:ext cx="1415478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449" y="4974336"/>
            <a:ext cx="19641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A6478"/>
                </a:solidFill>
                <a:latin typeface="Calibri"/>
              </a:rPr>
              <a:t>Español (default)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9583" y="1728216"/>
            <a:ext cx="1525206" cy="3172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home-engl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783080"/>
            <a:ext cx="1415478" cy="3063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0127" y="4974336"/>
            <a:ext cx="19641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A6478"/>
                </a:solidFill>
                <a:latin typeface="Calibri"/>
              </a:rPr>
              <a:t>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A6478"/>
                </a:solidFill>
                <a:latin typeface="Calibri"/>
              </a:rPr>
              <a:t>One tap on the language chip swaps every screen instantly — no reload, no lost state. Built on a single typed dictionary (constants/translations.ts) and a React Context (contexts/LanguageContext.tsx), so every string in the app is centrally defined for both languages.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4FA0"/>
              </a:gs>
              <a:gs pos="100000">
                <a:srgbClr val="1A6FD4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429000"/>
            <a:ext cx="1097280" cy="635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What's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480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AF6FF"/>
                </a:solidFill>
                <a:latin typeface="Calibri"/>
              </a:rPr>
              <a:t>This build is a frontend prototype. Here is exactly what stands between it and a real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What's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REALITY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It's a Frontend Only — No Backend Yet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Every screen you just saw runs on local component state and hard-coded arrays — nothing is saved beyond the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3502152" cy="50292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2C3444"/>
                </a:solidFill>
              </a:rPr>
              <a:t>No real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3410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No login / signup / password reset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Profile data (name, email, phone) is hard-coded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"Log out" button does nothing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834640"/>
            <a:ext cx="3502152" cy="50292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2C3444"/>
                </a:solidFill>
              </a:rPr>
              <a:t>No persisted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3474720"/>
            <a:ext cx="3410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Cart, orders, addresses &amp; cards live only in memory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Refreshing the app resets everything (except language &amp; confirmed address)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Supabase JS SDK is installed but not connected to any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834640"/>
            <a:ext cx="3502152" cy="50292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2C3444"/>
                </a:solidFill>
              </a:rPr>
              <a:t>No live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5864" y="3474720"/>
            <a:ext cx="3410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No payment gateway is called on "Confirm order"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Order status/tracking is static demo data, not real dispatch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C3444"/>
                </a:solidFill>
                <a:latin typeface="Calibri"/>
              </a:rPr>
              <a:t>•  No push notifications, no SMS/email confirmations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4FA0"/>
              </a:gs>
              <a:gs pos="100000">
                <a:srgbClr val="1A6FD4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429000"/>
            <a:ext cx="1097280" cy="635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480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AF6FF"/>
                </a:solidFill>
                <a:latin typeface="Calibri"/>
              </a:rPr>
              <a:t>Points to improve, grouped by what unlocks the most value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ROADMAP  ·  1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Backend &amp; Live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20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1847088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Real API + database — Supabase JS SDK is already installed; connect it (or a custom API) to back every 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78024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450592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Authentication — sign up / log in / log out / password reset; replace the hard-coded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81528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3054096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Persist orders, cart, addresses &amp; payment methods server-side, tied to the 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85032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3657600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Real payment gateway for MXN (Mercado Pago, Stripe, OpenPay) at "Confirm order"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88536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4261104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Push notifications (expo-notifications) for order status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4864608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Live order tracking: courier location + socket/real-time status updates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95544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5468112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Order detail screen, linked from Orders history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5B7"/>
                </a:solidFill>
                <a:latin typeface="Calibri"/>
              </a:rPr>
              <a:t>PULCRO  |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A5B7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D4"/>
                </a:solidFill>
                <a:latin typeface="Calibri"/>
              </a:rPr>
              <a:t>ROADMAP  · 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444"/>
                </a:solidFill>
                <a:latin typeface="Calibri"/>
              </a:rPr>
              <a:t>Polish &amp; Production Readiness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0" cy="50800"/>
          </a:xfrm>
          <a:prstGeom prst="rect">
            <a:avLst/>
          </a:prstGeom>
          <a:solidFill>
            <a:srgbClr val="1A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20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1847088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Google Maps API key for Android + address autocomplete (Places 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78024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450592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Missing screens: Notifications, Favorites, Help &amp; Support, Forgot Password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81528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3054096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Ratings &amp; reviews after a service is 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85032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3657600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Automated tests (unit + end-to-end) and CI/CD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88536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4261104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Error boundaries, loading/skeleton states, offline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4864608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Analytics &amp; crash reporting (e.g. Sentry) before public release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95544"/>
            <a:ext cx="777240" cy="347472"/>
          </a:xfrm>
          <a:prstGeom prst="roundRect">
            <a:avLst>
              <a:gd name="adj" fmla="val 30000"/>
            </a:avLst>
          </a:prstGeom>
          <a:solidFill>
            <a:srgbClr val="9B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5468112"/>
            <a:ext cx="9390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444"/>
                </a:solidFill>
                <a:latin typeface="Calibri"/>
              </a:rPr>
              <a:t>Growth ideas from category leaders (Cleano): multi-vendor marketplace, promos &amp; rewards ("4 orders, 5th free")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6FD4"/>
              </a:gs>
              <a:gs pos="100000">
                <a:srgbClr val="2ABFB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AF6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AF6FF"/>
                </a:solidFill>
                <a:latin typeface="Calibri"/>
              </a:rPr>
              <a:t>PULCRO  —  Frontend prototype built with Expo, React Native &amp;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